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в Мисс Дшх Ммм" initials="КМДМ" lastIdx="1" clrIdx="0">
    <p:extLst>
      <p:ext uri="{19B8F6BF-5375-455C-9EA6-DF929625EA0E}">
        <p15:presenceInfo xmlns:p15="http://schemas.microsoft.com/office/powerpoint/2012/main" userId="Кв Мисс Дшх Ммм"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5-17T01:21:36.766" idx="1">
    <p:pos x="10" y="10"/>
    <p:text/>
    <p:extLst>
      <p:ext uri="{C676402C-5697-4E1C-873F-D02D1690AC5C}">
        <p15:threadingInfo xmlns:p15="http://schemas.microsoft.com/office/powerpoint/2012/main" timeZoneBias="-24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ru-RU"/>
              <a:t>Образец заголовка</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2AFE5A53-EF6E-4018-8E35-450FAF06F958}" type="datetimeFigureOut">
              <a:rPr lang="ru-RU" smtClean="0"/>
              <a:t>17.05.2026</a:t>
            </a:fld>
            <a:endParaRPr lang="ru-RU"/>
          </a:p>
        </p:txBody>
      </p:sp>
      <p:sp>
        <p:nvSpPr>
          <p:cNvPr id="5" name="Footer Placeholder 4"/>
          <p:cNvSpPr>
            <a:spLocks noGrp="1"/>
          </p:cNvSpPr>
          <p:nvPr>
            <p:ph type="ftr" sz="quarter" idx="11"/>
          </p:nvPr>
        </p:nvSpPr>
        <p:spPr/>
        <p:txBody>
          <a:bodyPr/>
          <a:lstStyle/>
          <a:p>
            <a:endParaRPr lang="ru-RU"/>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A8048B90-2D29-43AC-A0E2-6311AD0258CF}" type="slidenum">
              <a:rPr lang="ru-RU" smtClean="0"/>
              <a:t>‹#›</a:t>
            </a:fld>
            <a:endParaRPr lang="ru-RU"/>
          </a:p>
        </p:txBody>
      </p:sp>
    </p:spTree>
    <p:extLst>
      <p:ext uri="{BB962C8B-B14F-4D97-AF65-F5344CB8AC3E}">
        <p14:creationId xmlns:p14="http://schemas.microsoft.com/office/powerpoint/2010/main" val="1030023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ru-RU"/>
              <a:t>Образец заголовка</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AFE5A53-EF6E-4018-8E35-450FAF06F958}" type="datetimeFigureOut">
              <a:rPr lang="ru-RU" smtClean="0"/>
              <a:t>17.05.2026</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8048B90-2D29-43AC-A0E2-6311AD0258CF}" type="slidenum">
              <a:rPr lang="ru-RU" smtClean="0"/>
              <a:t>‹#›</a:t>
            </a:fld>
            <a:endParaRPr lang="ru-RU"/>
          </a:p>
        </p:txBody>
      </p:sp>
    </p:spTree>
    <p:extLst>
      <p:ext uri="{BB962C8B-B14F-4D97-AF65-F5344CB8AC3E}">
        <p14:creationId xmlns:p14="http://schemas.microsoft.com/office/powerpoint/2010/main" val="842188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2AFE5A53-EF6E-4018-8E35-450FAF06F958}" type="datetimeFigureOut">
              <a:rPr lang="ru-RU" smtClean="0"/>
              <a:t>17.05.2026</a:t>
            </a:fld>
            <a:endParaRPr lang="ru-RU"/>
          </a:p>
        </p:txBody>
      </p:sp>
      <p:sp>
        <p:nvSpPr>
          <p:cNvPr id="5" name="Footer Placeholder 4"/>
          <p:cNvSpPr>
            <a:spLocks noGrp="1"/>
          </p:cNvSpPr>
          <p:nvPr>
            <p:ph type="ftr" sz="quarter" idx="11"/>
          </p:nvPr>
        </p:nvSpPr>
        <p:spPr/>
        <p:txBody>
          <a:bodyPr/>
          <a:lstStyle/>
          <a:p>
            <a:endParaRPr lang="ru-RU"/>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8048B90-2D29-43AC-A0E2-6311AD0258CF}" type="slidenum">
              <a:rPr lang="ru-RU" smtClean="0"/>
              <a:t>‹#›</a:t>
            </a:fld>
            <a:endParaRPr lang="ru-RU"/>
          </a:p>
        </p:txBody>
      </p:sp>
    </p:spTree>
    <p:extLst>
      <p:ext uri="{BB962C8B-B14F-4D97-AF65-F5344CB8AC3E}">
        <p14:creationId xmlns:p14="http://schemas.microsoft.com/office/powerpoint/2010/main" val="1193835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2AFE5A53-EF6E-4018-8E35-450FAF06F958}" type="datetimeFigureOut">
              <a:rPr lang="ru-RU" smtClean="0"/>
              <a:t>17.05.2026</a:t>
            </a:fld>
            <a:endParaRPr lang="ru-RU"/>
          </a:p>
        </p:txBody>
      </p:sp>
      <p:sp>
        <p:nvSpPr>
          <p:cNvPr id="6" name="Footer Placeholder 5"/>
          <p:cNvSpPr>
            <a:spLocks noGrp="1"/>
          </p:cNvSpPr>
          <p:nvPr>
            <p:ph type="ftr" sz="quarter" idx="11"/>
          </p:nvPr>
        </p:nvSpPr>
        <p:spPr/>
        <p:txBody>
          <a:bodyPr/>
          <a:lstStyle/>
          <a:p>
            <a:endParaRPr lang="ru-RU"/>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A8048B90-2D29-43AC-A0E2-6311AD0258CF}" type="slidenum">
              <a:rPr lang="ru-RU" smtClean="0"/>
              <a:t>‹#›</a:t>
            </a:fld>
            <a:endParaRPr lang="ru-RU"/>
          </a:p>
        </p:txBody>
      </p:sp>
    </p:spTree>
    <p:extLst>
      <p:ext uri="{BB962C8B-B14F-4D97-AF65-F5344CB8AC3E}">
        <p14:creationId xmlns:p14="http://schemas.microsoft.com/office/powerpoint/2010/main" val="889724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a:t>Образец заголовка</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2AFE5A53-EF6E-4018-8E35-450FAF06F958}" type="datetimeFigureOut">
              <a:rPr lang="ru-RU" smtClean="0"/>
              <a:t>17.05.2026</a:t>
            </a:fld>
            <a:endParaRPr lang="ru-RU"/>
          </a:p>
        </p:txBody>
      </p:sp>
      <p:sp>
        <p:nvSpPr>
          <p:cNvPr id="8" name="Footer Placeholder 7"/>
          <p:cNvSpPr>
            <a:spLocks noGrp="1"/>
          </p:cNvSpPr>
          <p:nvPr>
            <p:ph type="ftr" sz="quarter" idx="11"/>
          </p:nvPr>
        </p:nvSpPr>
        <p:spPr/>
        <p:txBody>
          <a:bodyPr/>
          <a:lstStyle/>
          <a:p>
            <a:endParaRPr lang="ru-RU"/>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8048B90-2D29-43AC-A0E2-6311AD0258CF}" type="slidenum">
              <a:rPr lang="ru-RU" smtClean="0"/>
              <a:t>‹#›</a:t>
            </a:fld>
            <a:endParaRPr lang="ru-RU"/>
          </a:p>
        </p:txBody>
      </p:sp>
    </p:spTree>
    <p:extLst>
      <p:ext uri="{BB962C8B-B14F-4D97-AF65-F5344CB8AC3E}">
        <p14:creationId xmlns:p14="http://schemas.microsoft.com/office/powerpoint/2010/main" val="3922637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2AFE5A53-EF6E-4018-8E35-450FAF06F958}" type="datetimeFigureOut">
              <a:rPr lang="ru-RU" smtClean="0"/>
              <a:t>17.05.2026</a:t>
            </a:fld>
            <a:endParaRPr lang="ru-RU"/>
          </a:p>
        </p:txBody>
      </p:sp>
      <p:sp>
        <p:nvSpPr>
          <p:cNvPr id="4" name="Footer Placeholder 3"/>
          <p:cNvSpPr>
            <a:spLocks noGrp="1"/>
          </p:cNvSpPr>
          <p:nvPr>
            <p:ph type="ftr" sz="quarter" idx="11"/>
          </p:nvPr>
        </p:nvSpPr>
        <p:spPr/>
        <p:txBody>
          <a:bodyPr/>
          <a:lstStyle/>
          <a:p>
            <a:endParaRPr lang="ru-RU"/>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8048B90-2D29-43AC-A0E2-6311AD0258CF}" type="slidenum">
              <a:rPr lang="ru-RU" smtClean="0"/>
              <a:t>‹#›</a:t>
            </a:fld>
            <a:endParaRPr lang="ru-RU"/>
          </a:p>
        </p:txBody>
      </p:sp>
    </p:spTree>
    <p:extLst>
      <p:ext uri="{BB962C8B-B14F-4D97-AF65-F5344CB8AC3E}">
        <p14:creationId xmlns:p14="http://schemas.microsoft.com/office/powerpoint/2010/main" val="1846923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FE5A53-EF6E-4018-8E35-450FAF06F958}" type="datetimeFigureOut">
              <a:rPr lang="ru-RU" smtClean="0"/>
              <a:t>17.05.2026</a:t>
            </a:fld>
            <a:endParaRPr lang="ru-RU"/>
          </a:p>
        </p:txBody>
      </p:sp>
      <p:sp>
        <p:nvSpPr>
          <p:cNvPr id="3" name="Footer Placeholder 2"/>
          <p:cNvSpPr>
            <a:spLocks noGrp="1"/>
          </p:cNvSpPr>
          <p:nvPr>
            <p:ph type="ftr" sz="quarter" idx="11"/>
          </p:nvPr>
        </p:nvSpPr>
        <p:spPr/>
        <p:txBody>
          <a:bodyPr/>
          <a:lstStyle/>
          <a:p>
            <a:endParaRPr lang="ru-RU"/>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8048B90-2D29-43AC-A0E2-6311AD0258CF}" type="slidenum">
              <a:rPr lang="ru-RU" smtClean="0"/>
              <a:t>‹#›</a:t>
            </a:fld>
            <a:endParaRPr lang="ru-RU"/>
          </a:p>
        </p:txBody>
      </p:sp>
    </p:spTree>
    <p:extLst>
      <p:ext uri="{BB962C8B-B14F-4D97-AF65-F5344CB8AC3E}">
        <p14:creationId xmlns:p14="http://schemas.microsoft.com/office/powerpoint/2010/main" val="2149578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ru-RU"/>
              <a:t>Образец заголовка</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2AFE5A53-EF6E-4018-8E35-450FAF06F958}" type="datetimeFigureOut">
              <a:rPr lang="ru-RU" smtClean="0"/>
              <a:t>17.05.2026</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8048B90-2D29-43AC-A0E2-6311AD0258CF}" type="slidenum">
              <a:rPr lang="ru-RU" smtClean="0"/>
              <a:t>‹#›</a:t>
            </a:fld>
            <a:endParaRPr lang="ru-RU"/>
          </a:p>
        </p:txBody>
      </p:sp>
    </p:spTree>
    <p:extLst>
      <p:ext uri="{BB962C8B-B14F-4D97-AF65-F5344CB8AC3E}">
        <p14:creationId xmlns:p14="http://schemas.microsoft.com/office/powerpoint/2010/main" val="278300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2AFE5A53-EF6E-4018-8E35-450FAF06F958}" type="datetimeFigureOut">
              <a:rPr lang="ru-RU" smtClean="0"/>
              <a:t>17.05.2026</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8048B90-2D29-43AC-A0E2-6311AD0258CF}" type="slidenum">
              <a:rPr lang="ru-RU" smtClean="0"/>
              <a:t>‹#›</a:t>
            </a:fld>
            <a:endParaRPr lang="ru-RU"/>
          </a:p>
        </p:txBody>
      </p:sp>
    </p:spTree>
    <p:extLst>
      <p:ext uri="{BB962C8B-B14F-4D97-AF65-F5344CB8AC3E}">
        <p14:creationId xmlns:p14="http://schemas.microsoft.com/office/powerpoint/2010/main" val="206723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ru-RU"/>
              <a:t>Образец заголовка</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2AFE5A53-EF6E-4018-8E35-450FAF06F958}" type="datetimeFigureOut">
              <a:rPr lang="ru-RU" smtClean="0"/>
              <a:t>17.05.2026</a:t>
            </a:fld>
            <a:endParaRPr lang="ru-RU"/>
          </a:p>
        </p:txBody>
      </p:sp>
      <p:sp>
        <p:nvSpPr>
          <p:cNvPr id="5" name="Footer Placeholder 4"/>
          <p:cNvSpPr>
            <a:spLocks noGrp="1"/>
          </p:cNvSpPr>
          <p:nvPr>
            <p:ph type="ftr" sz="quarter" idx="11"/>
          </p:nvPr>
        </p:nvSpPr>
        <p:spPr/>
        <p:txBody>
          <a:bodyPr/>
          <a:lstStyle/>
          <a:p>
            <a:endParaRPr lang="ru-RU"/>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8048B90-2D29-43AC-A0E2-6311AD0258CF}" type="slidenum">
              <a:rPr lang="ru-RU" smtClean="0"/>
              <a:t>‹#›</a:t>
            </a:fld>
            <a:endParaRPr lang="ru-RU"/>
          </a:p>
        </p:txBody>
      </p:sp>
    </p:spTree>
    <p:extLst>
      <p:ext uri="{BB962C8B-B14F-4D97-AF65-F5344CB8AC3E}">
        <p14:creationId xmlns:p14="http://schemas.microsoft.com/office/powerpoint/2010/main" val="3438483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ru-RU"/>
              <a:t>Образец заголовка</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2AFE5A53-EF6E-4018-8E35-450FAF06F958}" type="datetimeFigureOut">
              <a:rPr lang="ru-RU" smtClean="0"/>
              <a:t>17.05.2026</a:t>
            </a:fld>
            <a:endParaRPr lang="ru-RU"/>
          </a:p>
        </p:txBody>
      </p:sp>
      <p:sp>
        <p:nvSpPr>
          <p:cNvPr id="5" name="Footer Placeholder 4"/>
          <p:cNvSpPr>
            <a:spLocks noGrp="1"/>
          </p:cNvSpPr>
          <p:nvPr>
            <p:ph type="ftr" sz="quarter" idx="11"/>
          </p:nvPr>
        </p:nvSpPr>
        <p:spPr/>
        <p:txBody>
          <a:bodyPr/>
          <a:lstStyle/>
          <a:p>
            <a:endParaRPr lang="ru-RU"/>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8048B90-2D29-43AC-A0E2-6311AD0258CF}" type="slidenum">
              <a:rPr lang="ru-RU" smtClean="0"/>
              <a:t>‹#›</a:t>
            </a:fld>
            <a:endParaRPr lang="ru-RU"/>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7878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ru-RU"/>
              <a:t>Образец заголовка</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2AFE5A53-EF6E-4018-8E35-450FAF06F958}" type="datetimeFigureOut">
              <a:rPr lang="ru-RU" smtClean="0"/>
              <a:t>17.05.2026</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8048B90-2D29-43AC-A0E2-6311AD0258CF}" type="slidenum">
              <a:rPr lang="ru-RU" smtClean="0"/>
              <a:t>‹#›</a:t>
            </a:fld>
            <a:endParaRPr lang="ru-RU"/>
          </a:p>
        </p:txBody>
      </p:sp>
    </p:spTree>
    <p:extLst>
      <p:ext uri="{BB962C8B-B14F-4D97-AF65-F5344CB8AC3E}">
        <p14:creationId xmlns:p14="http://schemas.microsoft.com/office/powerpoint/2010/main" val="29104472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ru-RU"/>
              <a:t>Образец заголовка</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2AFE5A53-EF6E-4018-8E35-450FAF06F958}" type="datetimeFigureOut">
              <a:rPr lang="ru-RU" smtClean="0"/>
              <a:t>17.05.2026</a:t>
            </a:fld>
            <a:endParaRPr lang="ru-RU"/>
          </a:p>
        </p:txBody>
      </p:sp>
      <p:sp>
        <p:nvSpPr>
          <p:cNvPr id="6" name="Footer Placeholder 5"/>
          <p:cNvSpPr>
            <a:spLocks noGrp="1"/>
          </p:cNvSpPr>
          <p:nvPr>
            <p:ph type="ftr" sz="quarter" idx="11"/>
          </p:nvPr>
        </p:nvSpPr>
        <p:spPr/>
        <p:txBody>
          <a:bodyPr/>
          <a:lstStyle/>
          <a:p>
            <a:endParaRPr lang="ru-RU"/>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8048B90-2D29-43AC-A0E2-6311AD0258CF}" type="slidenum">
              <a:rPr lang="ru-RU" smtClean="0"/>
              <a:t>‹#›</a:t>
            </a:fld>
            <a:endParaRPr lang="ru-RU"/>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747088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ru-RU"/>
              <a:t>Образец заголовка</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2AFE5A53-EF6E-4018-8E35-450FAF06F958}" type="datetimeFigureOut">
              <a:rPr lang="ru-RU" smtClean="0"/>
              <a:t>17.05.2026</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8048B90-2D29-43AC-A0E2-6311AD0258CF}" type="slidenum">
              <a:rPr lang="ru-RU" smtClean="0"/>
              <a:t>‹#›</a:t>
            </a:fld>
            <a:endParaRPr lang="ru-RU"/>
          </a:p>
        </p:txBody>
      </p:sp>
    </p:spTree>
    <p:extLst>
      <p:ext uri="{BB962C8B-B14F-4D97-AF65-F5344CB8AC3E}">
        <p14:creationId xmlns:p14="http://schemas.microsoft.com/office/powerpoint/2010/main" val="14590685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AFE5A53-EF6E-4018-8E35-450FAF06F958}" type="datetimeFigureOut">
              <a:rPr lang="ru-RU" smtClean="0"/>
              <a:t>17.05.2026</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8048B90-2D29-43AC-A0E2-6311AD0258CF}" type="slidenum">
              <a:rPr lang="ru-RU" smtClean="0"/>
              <a:t>‹#›</a:t>
            </a:fld>
            <a:endParaRPr lang="ru-RU"/>
          </a:p>
        </p:txBody>
      </p:sp>
    </p:spTree>
    <p:extLst>
      <p:ext uri="{BB962C8B-B14F-4D97-AF65-F5344CB8AC3E}">
        <p14:creationId xmlns:p14="http://schemas.microsoft.com/office/powerpoint/2010/main" val="3303508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ru-RU"/>
              <a:t>Образец заголовка</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AFE5A53-EF6E-4018-8E35-450FAF06F958}" type="datetimeFigureOut">
              <a:rPr lang="ru-RU" smtClean="0"/>
              <a:t>17.05.2026</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8048B90-2D29-43AC-A0E2-6311AD0258CF}" type="slidenum">
              <a:rPr lang="ru-RU" smtClean="0"/>
              <a:t>‹#›</a:t>
            </a:fld>
            <a:endParaRPr lang="ru-RU"/>
          </a:p>
        </p:txBody>
      </p:sp>
    </p:spTree>
    <p:extLst>
      <p:ext uri="{BB962C8B-B14F-4D97-AF65-F5344CB8AC3E}">
        <p14:creationId xmlns:p14="http://schemas.microsoft.com/office/powerpoint/2010/main" val="3821380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AFE5A53-EF6E-4018-8E35-450FAF06F958}" type="datetimeFigureOut">
              <a:rPr lang="ru-RU" smtClean="0"/>
              <a:t>17.05.2026</a:t>
            </a:fld>
            <a:endParaRPr lang="ru-RU"/>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ru-RU"/>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8048B90-2D29-43AC-A0E2-6311AD0258CF}" type="slidenum">
              <a:rPr lang="ru-RU" smtClean="0"/>
              <a:t>‹#›</a:t>
            </a:fld>
            <a:endParaRPr lang="ru-RU"/>
          </a:p>
        </p:txBody>
      </p:sp>
    </p:spTree>
    <p:extLst>
      <p:ext uri="{BB962C8B-B14F-4D97-AF65-F5344CB8AC3E}">
        <p14:creationId xmlns:p14="http://schemas.microsoft.com/office/powerpoint/2010/main" val="89623722"/>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A9CC64-822F-4845-9F17-D5C90BE6DFC8}"/>
              </a:ext>
            </a:extLst>
          </p:cNvPr>
          <p:cNvSpPr>
            <a:spLocks noGrp="1"/>
          </p:cNvSpPr>
          <p:nvPr>
            <p:ph type="ctrTitle"/>
          </p:nvPr>
        </p:nvSpPr>
        <p:spPr>
          <a:xfrm>
            <a:off x="2035539" y="2044818"/>
            <a:ext cx="9591602" cy="1705062"/>
          </a:xfrm>
        </p:spPr>
        <p:txBody>
          <a:bodyPr>
            <a:normAutofit fontScale="90000"/>
          </a:bodyPr>
          <a:lstStyle/>
          <a:p>
            <a:r>
              <a:rPr lang="ru-RU" dirty="0"/>
              <a:t>Исследование метода обучения с подкреплением</a:t>
            </a:r>
          </a:p>
        </p:txBody>
      </p:sp>
      <p:sp>
        <p:nvSpPr>
          <p:cNvPr id="4" name="Подзаголовок 2">
            <a:extLst>
              <a:ext uri="{FF2B5EF4-FFF2-40B4-BE49-F238E27FC236}">
                <a16:creationId xmlns:a16="http://schemas.microsoft.com/office/drawing/2014/main" id="{B3E1E6B0-E5A7-43E6-B3C2-EA3D222C8670}"/>
              </a:ext>
            </a:extLst>
          </p:cNvPr>
          <p:cNvSpPr txBox="1">
            <a:spLocks/>
          </p:cNvSpPr>
          <p:nvPr/>
        </p:nvSpPr>
        <p:spPr>
          <a:xfrm>
            <a:off x="8671420" y="6375633"/>
            <a:ext cx="3520580" cy="383796"/>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ru-RU">
                <a:solidFill>
                  <a:srgbClr val="380070"/>
                </a:solidFill>
              </a:rPr>
              <a:t>ИСТмд-11 Фролова М.В.</a:t>
            </a:r>
            <a:endParaRPr lang="ru-RU" dirty="0">
              <a:solidFill>
                <a:srgbClr val="380070"/>
              </a:solidFill>
            </a:endParaRPr>
          </a:p>
        </p:txBody>
      </p:sp>
    </p:spTree>
    <p:extLst>
      <p:ext uri="{BB962C8B-B14F-4D97-AF65-F5344CB8AC3E}">
        <p14:creationId xmlns:p14="http://schemas.microsoft.com/office/powerpoint/2010/main" val="2875582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1">
            <a:extLst>
              <a:ext uri="{FF2B5EF4-FFF2-40B4-BE49-F238E27FC236}">
                <a16:creationId xmlns:a16="http://schemas.microsoft.com/office/drawing/2014/main" id="{22DE082F-D782-4F0B-A887-352A69B02746}"/>
              </a:ext>
            </a:extLst>
          </p:cNvPr>
          <p:cNvSpPr>
            <a:spLocks noGrp="1"/>
          </p:cNvSpPr>
          <p:nvPr>
            <p:ph type="title"/>
          </p:nvPr>
        </p:nvSpPr>
        <p:spPr>
          <a:xfrm>
            <a:off x="1761688" y="704675"/>
            <a:ext cx="10313564" cy="704675"/>
          </a:xfrm>
        </p:spPr>
        <p:txBody>
          <a:bodyPr>
            <a:normAutofit/>
          </a:bodyPr>
          <a:lstStyle/>
          <a:p>
            <a:r>
              <a:rPr lang="ru-RU" sz="3200" dirty="0"/>
              <a:t>Проблема:</a:t>
            </a:r>
          </a:p>
        </p:txBody>
      </p:sp>
      <p:sp>
        <p:nvSpPr>
          <p:cNvPr id="9" name="Объект 2">
            <a:extLst>
              <a:ext uri="{FF2B5EF4-FFF2-40B4-BE49-F238E27FC236}">
                <a16:creationId xmlns:a16="http://schemas.microsoft.com/office/drawing/2014/main" id="{5B807B01-28B5-49E0-89F7-C221D6AD4361}"/>
              </a:ext>
            </a:extLst>
          </p:cNvPr>
          <p:cNvSpPr>
            <a:spLocks noGrp="1"/>
          </p:cNvSpPr>
          <p:nvPr>
            <p:ph idx="1"/>
          </p:nvPr>
        </p:nvSpPr>
        <p:spPr>
          <a:xfrm>
            <a:off x="939567" y="1409350"/>
            <a:ext cx="11135685" cy="2617367"/>
          </a:xfrm>
        </p:spPr>
        <p:txBody>
          <a:bodyPr>
            <a:normAutofit/>
          </a:bodyPr>
          <a:lstStyle/>
          <a:p>
            <a:r>
              <a:rPr lang="ru-RU" sz="2000" dirty="0">
                <a:solidFill>
                  <a:schemeClr val="tx1"/>
                </a:solidFill>
                <a:cs typeface="Times New Roman" panose="02020603050405020304" pitchFamily="18" charset="0"/>
              </a:rPr>
              <a:t>Существует множество подходов для реализации компьютерного противника в шашках-поддавках: выбор хода с помощью эвристик, обучение нейросети с </a:t>
            </a:r>
            <a:r>
              <a:rPr lang="ru-RU" sz="2000" dirty="0" err="1">
                <a:solidFill>
                  <a:schemeClr val="tx1"/>
                </a:solidFill>
                <a:cs typeface="Times New Roman" panose="02020603050405020304" pitchFamily="18" charset="0"/>
              </a:rPr>
              <a:t>предобучением</a:t>
            </a:r>
            <a:r>
              <a:rPr lang="ru-RU" sz="2000" dirty="0">
                <a:solidFill>
                  <a:schemeClr val="tx1"/>
                </a:solidFill>
                <a:cs typeface="Times New Roman" panose="02020603050405020304" pitchFamily="18" charset="0"/>
              </a:rPr>
              <a:t>, обучение агента с подкреплением. Однако на практике неочевидно, какой из подходов обеспечивает более высокую результативность и адаптивность. Таким образом, поиск наиболее эффективного метода является актуальной проблемой. </a:t>
            </a:r>
          </a:p>
          <a:p>
            <a:endParaRPr lang="ru-RU" dirty="0">
              <a:solidFill>
                <a:schemeClr val="tx1"/>
              </a:solidFill>
            </a:endParaRPr>
          </a:p>
        </p:txBody>
      </p:sp>
      <p:sp>
        <p:nvSpPr>
          <p:cNvPr id="10" name="Заголовок 1">
            <a:extLst>
              <a:ext uri="{FF2B5EF4-FFF2-40B4-BE49-F238E27FC236}">
                <a16:creationId xmlns:a16="http://schemas.microsoft.com/office/drawing/2014/main" id="{087903BA-E0F4-40EE-AB59-BDB8E2EA0B72}"/>
              </a:ext>
            </a:extLst>
          </p:cNvPr>
          <p:cNvSpPr txBox="1">
            <a:spLocks/>
          </p:cNvSpPr>
          <p:nvPr/>
        </p:nvSpPr>
        <p:spPr>
          <a:xfrm>
            <a:off x="1761688" y="3758269"/>
            <a:ext cx="10313564" cy="6878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3200" dirty="0"/>
              <a:t>Гипотеза: </a:t>
            </a:r>
          </a:p>
        </p:txBody>
      </p:sp>
      <p:sp>
        <p:nvSpPr>
          <p:cNvPr id="11" name="Объект 2">
            <a:extLst>
              <a:ext uri="{FF2B5EF4-FFF2-40B4-BE49-F238E27FC236}">
                <a16:creationId xmlns:a16="http://schemas.microsoft.com/office/drawing/2014/main" id="{21E7DD1B-BA37-4187-810F-A5ACFBB260E0}"/>
              </a:ext>
            </a:extLst>
          </p:cNvPr>
          <p:cNvSpPr txBox="1">
            <a:spLocks/>
          </p:cNvSpPr>
          <p:nvPr/>
        </p:nvSpPr>
        <p:spPr>
          <a:xfrm>
            <a:off x="939567" y="4446166"/>
            <a:ext cx="11088233" cy="21589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000" dirty="0">
                <a:cs typeface="Times New Roman" panose="02020603050405020304" pitchFamily="18" charset="0"/>
              </a:rPr>
              <a:t>Обучение агента с подкреплением покажет более высокие результаты по сравнению с простыми эвристиками и </a:t>
            </a:r>
            <a:r>
              <a:rPr lang="ru-RU" sz="2000" dirty="0" err="1">
                <a:cs typeface="Times New Roman" panose="02020603050405020304" pitchFamily="18" charset="0"/>
              </a:rPr>
              <a:t>предобучением</a:t>
            </a:r>
            <a:r>
              <a:rPr lang="ru-RU" sz="2000" dirty="0">
                <a:cs typeface="Times New Roman" panose="02020603050405020304" pitchFamily="18" charset="0"/>
              </a:rPr>
              <a:t>, поскольку позволяет агенту обучаться через игру с самим собой и находить оптимальную стратегию самостоятельно.  </a:t>
            </a:r>
          </a:p>
          <a:p>
            <a:endParaRPr lang="ru-RU" dirty="0"/>
          </a:p>
        </p:txBody>
      </p:sp>
    </p:spTree>
    <p:extLst>
      <p:ext uri="{BB962C8B-B14F-4D97-AF65-F5344CB8AC3E}">
        <p14:creationId xmlns:p14="http://schemas.microsoft.com/office/powerpoint/2010/main" val="287451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48A2B2C2-4165-4B2B-86D9-43066890EA17}"/>
              </a:ext>
            </a:extLst>
          </p:cNvPr>
          <p:cNvSpPr>
            <a:spLocks noGrp="1"/>
          </p:cNvSpPr>
          <p:nvPr>
            <p:ph idx="1"/>
          </p:nvPr>
        </p:nvSpPr>
        <p:spPr>
          <a:xfrm>
            <a:off x="1644242" y="1702965"/>
            <a:ext cx="9860370" cy="4208257"/>
          </a:xfrm>
        </p:spPr>
        <p:txBody>
          <a:bodyPr/>
          <a:lstStyle/>
          <a:p>
            <a:pPr marL="0" indent="0">
              <a:buNone/>
            </a:pPr>
            <a:r>
              <a:rPr lang="ru-RU" sz="2800" b="1" dirty="0"/>
              <a:t>План исследования: </a:t>
            </a:r>
            <a:endParaRPr lang="ru-RU" sz="2800" dirty="0"/>
          </a:p>
          <a:p>
            <a:r>
              <a:rPr lang="ru-RU" sz="2000" dirty="0"/>
              <a:t>1. Реализовать эвристический метод.  </a:t>
            </a:r>
          </a:p>
          <a:p>
            <a:r>
              <a:rPr lang="ru-RU" sz="2000" dirty="0"/>
              <a:t>2. Реализовать метод обучения с </a:t>
            </a:r>
            <a:r>
              <a:rPr lang="ru-RU" sz="2000" dirty="0" err="1"/>
              <a:t>предобучением</a:t>
            </a:r>
            <a:r>
              <a:rPr lang="ru-RU" sz="2000" dirty="0"/>
              <a:t>.   </a:t>
            </a:r>
          </a:p>
          <a:p>
            <a:r>
              <a:rPr lang="ru-RU" sz="2000" dirty="0"/>
              <a:t>3. Реализовать метод обучения с подкреплением. </a:t>
            </a:r>
          </a:p>
          <a:p>
            <a:r>
              <a:rPr lang="ru-RU" sz="2000" dirty="0"/>
              <a:t>4. Сравнить эффективность методов в игре агентов между собой. </a:t>
            </a:r>
          </a:p>
          <a:p>
            <a:r>
              <a:rPr lang="ru-RU" sz="2000" dirty="0"/>
              <a:t>5. Сравнить эффективность методов при игре с реальным игроком. </a:t>
            </a:r>
          </a:p>
          <a:p>
            <a:r>
              <a:rPr lang="ru-RU" sz="2000" dirty="0"/>
              <a:t>6. Сделать выводы по результатам исследования. </a:t>
            </a:r>
          </a:p>
          <a:p>
            <a:endParaRPr lang="ru-RU" dirty="0"/>
          </a:p>
        </p:txBody>
      </p:sp>
    </p:spTree>
    <p:extLst>
      <p:ext uri="{BB962C8B-B14F-4D97-AF65-F5344CB8AC3E}">
        <p14:creationId xmlns:p14="http://schemas.microsoft.com/office/powerpoint/2010/main" val="2001410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62BFA4-6BD4-4DF0-880E-23A39944BBF8}"/>
              </a:ext>
            </a:extLst>
          </p:cNvPr>
          <p:cNvSpPr>
            <a:spLocks noGrp="1"/>
          </p:cNvSpPr>
          <p:nvPr>
            <p:ph type="title"/>
          </p:nvPr>
        </p:nvSpPr>
        <p:spPr>
          <a:xfrm>
            <a:off x="764126" y="1706290"/>
            <a:ext cx="4806164" cy="659405"/>
          </a:xfrm>
        </p:spPr>
        <p:txBody>
          <a:bodyPr>
            <a:normAutofit/>
          </a:bodyPr>
          <a:lstStyle/>
          <a:p>
            <a:r>
              <a:rPr lang="ru-RU" sz="2800" dirty="0"/>
              <a:t>Методы для сравнения: </a:t>
            </a:r>
          </a:p>
        </p:txBody>
      </p:sp>
      <p:sp>
        <p:nvSpPr>
          <p:cNvPr id="3" name="Объект 2">
            <a:extLst>
              <a:ext uri="{FF2B5EF4-FFF2-40B4-BE49-F238E27FC236}">
                <a16:creationId xmlns:a16="http://schemas.microsoft.com/office/drawing/2014/main" id="{006184C8-75FB-4A12-BDCA-5A1F9402E318}"/>
              </a:ext>
            </a:extLst>
          </p:cNvPr>
          <p:cNvSpPr>
            <a:spLocks noGrp="1"/>
          </p:cNvSpPr>
          <p:nvPr>
            <p:ph idx="1"/>
          </p:nvPr>
        </p:nvSpPr>
        <p:spPr>
          <a:xfrm>
            <a:off x="764126" y="2441196"/>
            <a:ext cx="5905122" cy="3470026"/>
          </a:xfrm>
        </p:spPr>
        <p:txBody>
          <a:bodyPr>
            <a:normAutofit/>
          </a:bodyPr>
          <a:lstStyle/>
          <a:p>
            <a:r>
              <a:rPr lang="ru-RU" sz="2400" dirty="0"/>
              <a:t>Эвристический метод </a:t>
            </a:r>
          </a:p>
          <a:p>
            <a:r>
              <a:rPr lang="ru-RU" sz="2400" dirty="0"/>
              <a:t>Обучение с </a:t>
            </a:r>
            <a:r>
              <a:rPr lang="ru-RU" sz="2400" dirty="0" err="1"/>
              <a:t>предобучением</a:t>
            </a:r>
            <a:r>
              <a:rPr lang="ru-RU" sz="2400" dirty="0"/>
              <a:t> </a:t>
            </a:r>
          </a:p>
          <a:p>
            <a:r>
              <a:rPr lang="ru-RU" sz="2400" dirty="0"/>
              <a:t>Обучение с подкреплением (</a:t>
            </a:r>
            <a:r>
              <a:rPr lang="en-US" sz="2400" dirty="0"/>
              <a:t>RL</a:t>
            </a:r>
            <a:r>
              <a:rPr lang="ru-RU" sz="2400" dirty="0"/>
              <a:t>) </a:t>
            </a:r>
          </a:p>
          <a:p>
            <a:endParaRPr lang="ru-RU" dirty="0"/>
          </a:p>
        </p:txBody>
      </p:sp>
      <p:pic>
        <p:nvPicPr>
          <p:cNvPr id="4" name="Рисунок 3">
            <a:extLst>
              <a:ext uri="{FF2B5EF4-FFF2-40B4-BE49-F238E27FC236}">
                <a16:creationId xmlns:a16="http://schemas.microsoft.com/office/drawing/2014/main" id="{677CA60C-6465-4D24-8EE5-3742F65D7948}"/>
              </a:ext>
            </a:extLst>
          </p:cNvPr>
          <p:cNvPicPr/>
          <p:nvPr/>
        </p:nvPicPr>
        <p:blipFill>
          <a:blip r:embed="rId2">
            <a:extLst>
              <a:ext uri="{28A0092B-C50C-407E-A947-70E740481C1C}">
                <a14:useLocalDpi xmlns:a14="http://schemas.microsoft.com/office/drawing/2010/main" val="0"/>
              </a:ext>
            </a:extLst>
          </a:blip>
          <a:stretch>
            <a:fillRect/>
          </a:stretch>
        </p:blipFill>
        <p:spPr>
          <a:xfrm>
            <a:off x="6803473" y="1706290"/>
            <a:ext cx="5153376" cy="4204932"/>
          </a:xfrm>
          <a:prstGeom prst="rect">
            <a:avLst/>
          </a:prstGeom>
        </p:spPr>
      </p:pic>
    </p:spTree>
    <p:extLst>
      <p:ext uri="{BB962C8B-B14F-4D97-AF65-F5344CB8AC3E}">
        <p14:creationId xmlns:p14="http://schemas.microsoft.com/office/powerpoint/2010/main" val="2768577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904714-AB0D-4D6B-9AA3-FB0A7D97977A}"/>
              </a:ext>
            </a:extLst>
          </p:cNvPr>
          <p:cNvSpPr>
            <a:spLocks noGrp="1"/>
          </p:cNvSpPr>
          <p:nvPr>
            <p:ph type="title"/>
          </p:nvPr>
        </p:nvSpPr>
        <p:spPr>
          <a:xfrm>
            <a:off x="1904301" y="729842"/>
            <a:ext cx="9600311" cy="587230"/>
          </a:xfrm>
        </p:spPr>
        <p:txBody>
          <a:bodyPr>
            <a:normAutofit/>
          </a:bodyPr>
          <a:lstStyle/>
          <a:p>
            <a:r>
              <a:rPr lang="ru-RU" sz="2800" dirty="0"/>
              <a:t>Эвристический метод</a:t>
            </a:r>
          </a:p>
        </p:txBody>
      </p:sp>
      <p:sp>
        <p:nvSpPr>
          <p:cNvPr id="3" name="Объект 2">
            <a:extLst>
              <a:ext uri="{FF2B5EF4-FFF2-40B4-BE49-F238E27FC236}">
                <a16:creationId xmlns:a16="http://schemas.microsoft.com/office/drawing/2014/main" id="{563814B5-EDC4-4748-A35D-D446067CCE10}"/>
              </a:ext>
            </a:extLst>
          </p:cNvPr>
          <p:cNvSpPr>
            <a:spLocks noGrp="1"/>
          </p:cNvSpPr>
          <p:nvPr>
            <p:ph idx="1"/>
          </p:nvPr>
        </p:nvSpPr>
        <p:spPr>
          <a:xfrm>
            <a:off x="1392572" y="1543574"/>
            <a:ext cx="10112040" cy="4367648"/>
          </a:xfrm>
        </p:spPr>
        <p:txBody>
          <a:bodyPr/>
          <a:lstStyle/>
          <a:p>
            <a:r>
              <a:rPr lang="ru-RU" sz="2000" dirty="0"/>
              <a:t>Подход основан на заранее заданном наборе правил. Алгоритм перебирает возможные ходы и отдаёт приоритет тем, при которых можно отдать шашку. Если таких ходов несколько, случайно выбирается один из таких ходов. Если возможности отдать шашку нет, делается произвольный ход. Метод не требует обучения, однако неспособен оценивать позицию и выстраивать долгосрочную стратегию </a:t>
            </a:r>
          </a:p>
          <a:p>
            <a:endParaRPr lang="ru-RU" dirty="0"/>
          </a:p>
        </p:txBody>
      </p:sp>
    </p:spTree>
    <p:extLst>
      <p:ext uri="{BB962C8B-B14F-4D97-AF65-F5344CB8AC3E}">
        <p14:creationId xmlns:p14="http://schemas.microsoft.com/office/powerpoint/2010/main" val="669761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F336C9-360D-42A6-B720-07CF79FC898F}"/>
              </a:ext>
            </a:extLst>
          </p:cNvPr>
          <p:cNvSpPr>
            <a:spLocks noGrp="1"/>
          </p:cNvSpPr>
          <p:nvPr>
            <p:ph type="title"/>
          </p:nvPr>
        </p:nvSpPr>
        <p:spPr>
          <a:xfrm>
            <a:off x="1853967" y="729842"/>
            <a:ext cx="9650645" cy="562064"/>
          </a:xfrm>
        </p:spPr>
        <p:txBody>
          <a:bodyPr>
            <a:normAutofit/>
          </a:bodyPr>
          <a:lstStyle/>
          <a:p>
            <a:r>
              <a:rPr lang="ru-RU" sz="2800" dirty="0"/>
              <a:t>Обучение с </a:t>
            </a:r>
            <a:r>
              <a:rPr lang="ru-RU" sz="2800" dirty="0" err="1"/>
              <a:t>предобучением</a:t>
            </a:r>
            <a:endParaRPr lang="ru-RU" sz="2800" dirty="0"/>
          </a:p>
        </p:txBody>
      </p:sp>
      <p:sp>
        <p:nvSpPr>
          <p:cNvPr id="3" name="Объект 2">
            <a:extLst>
              <a:ext uri="{FF2B5EF4-FFF2-40B4-BE49-F238E27FC236}">
                <a16:creationId xmlns:a16="http://schemas.microsoft.com/office/drawing/2014/main" id="{E81DC7C8-5AFC-41CD-AE75-F94A361BC13B}"/>
              </a:ext>
            </a:extLst>
          </p:cNvPr>
          <p:cNvSpPr>
            <a:spLocks noGrp="1"/>
          </p:cNvSpPr>
          <p:nvPr>
            <p:ph idx="1"/>
          </p:nvPr>
        </p:nvSpPr>
        <p:spPr>
          <a:xfrm>
            <a:off x="1426128" y="1535185"/>
            <a:ext cx="10078484" cy="4376037"/>
          </a:xfrm>
        </p:spPr>
        <p:txBody>
          <a:bodyPr/>
          <a:lstStyle/>
          <a:p>
            <a:r>
              <a:rPr lang="ru-RU" sz="2000" dirty="0"/>
              <a:t>Ключевая особенность подхода: ИИ обучается на заранее сгенерированном </a:t>
            </a:r>
            <a:r>
              <a:rPr lang="ru-RU" sz="2000" dirty="0" err="1"/>
              <a:t>датасете</a:t>
            </a:r>
            <a:r>
              <a:rPr lang="ru-RU" sz="2000" dirty="0"/>
              <a:t>. Исходя из определённого количества партий, модель учится предсказывать оценку позиции и выбирать такой ход, который бы минимизировал оценку соперника, то есть потенциально вёл бы к ухудшению предсказываемой оценки </a:t>
            </a:r>
          </a:p>
          <a:p>
            <a:endParaRPr lang="ru-RU" dirty="0"/>
          </a:p>
        </p:txBody>
      </p:sp>
    </p:spTree>
    <p:extLst>
      <p:ext uri="{BB962C8B-B14F-4D97-AF65-F5344CB8AC3E}">
        <p14:creationId xmlns:p14="http://schemas.microsoft.com/office/powerpoint/2010/main" val="145247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F407B5-1FC5-476A-B399-6DF490E75992}"/>
              </a:ext>
            </a:extLst>
          </p:cNvPr>
          <p:cNvSpPr>
            <a:spLocks noGrp="1"/>
          </p:cNvSpPr>
          <p:nvPr>
            <p:ph type="title"/>
          </p:nvPr>
        </p:nvSpPr>
        <p:spPr>
          <a:xfrm>
            <a:off x="1837189" y="729842"/>
            <a:ext cx="9667423" cy="536896"/>
          </a:xfrm>
        </p:spPr>
        <p:txBody>
          <a:bodyPr>
            <a:normAutofit/>
          </a:bodyPr>
          <a:lstStyle/>
          <a:p>
            <a:r>
              <a:rPr lang="ru-RU" sz="2800" dirty="0"/>
              <a:t>Обучение с подкреплением</a:t>
            </a:r>
          </a:p>
        </p:txBody>
      </p:sp>
      <p:sp>
        <p:nvSpPr>
          <p:cNvPr id="3" name="Объект 2">
            <a:extLst>
              <a:ext uri="{FF2B5EF4-FFF2-40B4-BE49-F238E27FC236}">
                <a16:creationId xmlns:a16="http://schemas.microsoft.com/office/drawing/2014/main" id="{201607D4-EEB8-4CD7-8732-7C502DF2FF0E}"/>
              </a:ext>
            </a:extLst>
          </p:cNvPr>
          <p:cNvSpPr>
            <a:spLocks noGrp="1"/>
          </p:cNvSpPr>
          <p:nvPr>
            <p:ph idx="1"/>
          </p:nvPr>
        </p:nvSpPr>
        <p:spPr>
          <a:xfrm>
            <a:off x="1359017" y="1526796"/>
            <a:ext cx="10145595" cy="4384426"/>
          </a:xfrm>
        </p:spPr>
        <p:txBody>
          <a:bodyPr/>
          <a:lstStyle/>
          <a:p>
            <a:r>
              <a:rPr lang="ru-RU" sz="2000" dirty="0"/>
              <a:t>Подход заключается в том, чтобы агент обучался, играя определённое количество партий с самим собой. В конце каждой партии он получает награду +1 или -1 в зависимости от того, выиграли белые или чёрные. При этом, чем ближе сделанный ход к концу игры, тем выше его ценность. Таким образом, с каждой новой партией агент точнее оценивает позицию и улучшает свою стратегию </a:t>
            </a:r>
          </a:p>
          <a:p>
            <a:endParaRPr lang="ru-RU" dirty="0"/>
          </a:p>
        </p:txBody>
      </p:sp>
    </p:spTree>
    <p:extLst>
      <p:ext uri="{BB962C8B-B14F-4D97-AF65-F5344CB8AC3E}">
        <p14:creationId xmlns:p14="http://schemas.microsoft.com/office/powerpoint/2010/main" val="2533235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9F9C91-3427-4251-9632-A55448BEF6B3}"/>
              </a:ext>
            </a:extLst>
          </p:cNvPr>
          <p:cNvSpPr>
            <a:spLocks noGrp="1"/>
          </p:cNvSpPr>
          <p:nvPr>
            <p:ph type="title"/>
          </p:nvPr>
        </p:nvSpPr>
        <p:spPr>
          <a:xfrm>
            <a:off x="2130805" y="624110"/>
            <a:ext cx="9373808" cy="1280890"/>
          </a:xfrm>
        </p:spPr>
        <p:txBody>
          <a:bodyPr>
            <a:normAutofit fontScale="90000"/>
          </a:bodyPr>
          <a:lstStyle/>
          <a:p>
            <a:r>
              <a:rPr lang="ru-RU" sz="3100" dirty="0"/>
              <a:t>Сравнительная таблица результатов игр, сыгранных между собой. </a:t>
            </a:r>
            <a:br>
              <a:rPr lang="ru-RU" dirty="0"/>
            </a:br>
            <a:endParaRPr lang="ru-RU" dirty="0"/>
          </a:p>
        </p:txBody>
      </p:sp>
      <p:graphicFrame>
        <p:nvGraphicFramePr>
          <p:cNvPr id="4" name="Объект 3">
            <a:extLst>
              <a:ext uri="{FF2B5EF4-FFF2-40B4-BE49-F238E27FC236}">
                <a16:creationId xmlns:a16="http://schemas.microsoft.com/office/drawing/2014/main" id="{A97B8927-3C1B-4AFD-814A-1DED7AE55BF5}"/>
              </a:ext>
            </a:extLst>
          </p:cNvPr>
          <p:cNvGraphicFramePr>
            <a:graphicFrameLocks noGrp="1"/>
          </p:cNvGraphicFramePr>
          <p:nvPr>
            <p:ph idx="1"/>
            <p:extLst>
              <p:ext uri="{D42A27DB-BD31-4B8C-83A1-F6EECF244321}">
                <p14:modId xmlns:p14="http://schemas.microsoft.com/office/powerpoint/2010/main" val="3949347318"/>
              </p:ext>
            </p:extLst>
          </p:nvPr>
        </p:nvGraphicFramePr>
        <p:xfrm>
          <a:off x="1845578" y="1803633"/>
          <a:ext cx="8414159" cy="3355597"/>
        </p:xfrm>
        <a:graphic>
          <a:graphicData uri="http://schemas.openxmlformats.org/drawingml/2006/table">
            <a:tbl>
              <a:tblPr firstRow="1" firstCol="1" bandRow="1">
                <a:tableStyleId>{5C22544A-7EE6-4342-B048-85BDC9FD1C3A}</a:tableStyleId>
              </a:tblPr>
              <a:tblGrid>
                <a:gridCol w="1676499">
                  <a:extLst>
                    <a:ext uri="{9D8B030D-6E8A-4147-A177-3AD203B41FA5}">
                      <a16:colId xmlns:a16="http://schemas.microsoft.com/office/drawing/2014/main" val="2332524503"/>
                    </a:ext>
                  </a:extLst>
                </a:gridCol>
                <a:gridCol w="2530580">
                  <a:extLst>
                    <a:ext uri="{9D8B030D-6E8A-4147-A177-3AD203B41FA5}">
                      <a16:colId xmlns:a16="http://schemas.microsoft.com/office/drawing/2014/main" val="2974131169"/>
                    </a:ext>
                  </a:extLst>
                </a:gridCol>
                <a:gridCol w="2103540">
                  <a:extLst>
                    <a:ext uri="{9D8B030D-6E8A-4147-A177-3AD203B41FA5}">
                      <a16:colId xmlns:a16="http://schemas.microsoft.com/office/drawing/2014/main" val="3156336787"/>
                    </a:ext>
                  </a:extLst>
                </a:gridCol>
                <a:gridCol w="2103540">
                  <a:extLst>
                    <a:ext uri="{9D8B030D-6E8A-4147-A177-3AD203B41FA5}">
                      <a16:colId xmlns:a16="http://schemas.microsoft.com/office/drawing/2014/main" val="1674526551"/>
                    </a:ext>
                  </a:extLst>
                </a:gridCol>
              </a:tblGrid>
              <a:tr h="774670">
                <a:tc>
                  <a:txBody>
                    <a:bodyPr/>
                    <a:lstStyle/>
                    <a:p>
                      <a:pPr algn="ctr">
                        <a:lnSpc>
                          <a:spcPct val="107000"/>
                        </a:lnSpc>
                        <a:spcAft>
                          <a:spcPts val="0"/>
                        </a:spcAft>
                      </a:pPr>
                      <a:r>
                        <a:rPr lang="ru-RU" sz="1400" dirty="0">
                          <a:effectLst/>
                        </a:rPr>
                        <a:t>Метод</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ru-RU" sz="1400" dirty="0">
                          <a:effectLst/>
                        </a:rPr>
                        <a:t>Эвристический метод</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ru-RU" sz="1400" dirty="0">
                          <a:effectLst/>
                        </a:rPr>
                        <a:t>Обучение с </a:t>
                      </a:r>
                      <a:r>
                        <a:rPr lang="ru-RU" sz="1400" dirty="0" err="1">
                          <a:effectLst/>
                        </a:rPr>
                        <a:t>предобучением</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ru-RU" sz="1400" dirty="0">
                          <a:effectLst/>
                        </a:rPr>
                        <a:t>Обучение с подкреплением</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69515735"/>
                  </a:ext>
                </a:extLst>
              </a:tr>
              <a:tr h="860309">
                <a:tc>
                  <a:txBody>
                    <a:bodyPr/>
                    <a:lstStyle/>
                    <a:p>
                      <a:pPr>
                        <a:lnSpc>
                          <a:spcPct val="107000"/>
                        </a:lnSpc>
                        <a:spcAft>
                          <a:spcPts val="0"/>
                        </a:spcAft>
                      </a:pPr>
                      <a:r>
                        <a:rPr lang="ru-RU" sz="1200" dirty="0">
                          <a:effectLst/>
                        </a:rPr>
                        <a:t>Эвристический метод</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400" dirty="0">
                          <a:effectLst/>
                        </a:rPr>
                        <a:t>–</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400">
                          <a:effectLst/>
                        </a:rPr>
                        <a:t>71/129</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400">
                          <a:effectLst/>
                        </a:rPr>
                        <a:t>87/113</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54497396"/>
                  </a:ext>
                </a:extLst>
              </a:tr>
              <a:tr h="860309">
                <a:tc>
                  <a:txBody>
                    <a:bodyPr/>
                    <a:lstStyle/>
                    <a:p>
                      <a:pPr>
                        <a:lnSpc>
                          <a:spcPct val="107000"/>
                        </a:lnSpc>
                        <a:spcAft>
                          <a:spcPts val="0"/>
                        </a:spcAft>
                      </a:pPr>
                      <a:r>
                        <a:rPr lang="ru-RU" sz="1200" dirty="0">
                          <a:effectLst/>
                        </a:rPr>
                        <a:t>Обучение с </a:t>
                      </a:r>
                      <a:r>
                        <a:rPr lang="ru-RU" sz="1200" dirty="0" err="1">
                          <a:effectLst/>
                        </a:rPr>
                        <a:t>предобучением</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400" dirty="0">
                          <a:effectLst/>
                        </a:rPr>
                        <a:t>129/71</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400" dirty="0">
                          <a:effectLst/>
                        </a:rPr>
                        <a:t>–</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400">
                          <a:effectLst/>
                        </a:rPr>
                        <a:t>100/100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455502"/>
                  </a:ext>
                </a:extLst>
              </a:tr>
              <a:tr h="860309">
                <a:tc>
                  <a:txBody>
                    <a:bodyPr/>
                    <a:lstStyle/>
                    <a:p>
                      <a:pPr>
                        <a:lnSpc>
                          <a:spcPct val="107000"/>
                        </a:lnSpc>
                        <a:spcAft>
                          <a:spcPts val="0"/>
                        </a:spcAft>
                      </a:pPr>
                      <a:r>
                        <a:rPr lang="ru-RU" sz="1200" dirty="0">
                          <a:effectLst/>
                        </a:rPr>
                        <a:t>Обучение с подкреплением</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400">
                          <a:effectLst/>
                        </a:rPr>
                        <a:t>113/87</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400" dirty="0">
                          <a:effectLst/>
                        </a:rPr>
                        <a:t>100/100</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400" dirty="0">
                          <a:effectLst/>
                        </a:rPr>
                        <a:t>–</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62279158"/>
                  </a:ext>
                </a:extLst>
              </a:tr>
            </a:tbl>
          </a:graphicData>
        </a:graphic>
      </p:graphicFrame>
    </p:spTree>
    <p:extLst>
      <p:ext uri="{BB962C8B-B14F-4D97-AF65-F5344CB8AC3E}">
        <p14:creationId xmlns:p14="http://schemas.microsoft.com/office/powerpoint/2010/main" val="2307818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579D37-65C0-4AF3-A40F-DB833821F2C0}"/>
              </a:ext>
            </a:extLst>
          </p:cNvPr>
          <p:cNvSpPr>
            <a:spLocks noGrp="1"/>
          </p:cNvSpPr>
          <p:nvPr>
            <p:ph type="title"/>
          </p:nvPr>
        </p:nvSpPr>
        <p:spPr>
          <a:xfrm>
            <a:off x="1946247" y="624110"/>
            <a:ext cx="8263155" cy="1280890"/>
          </a:xfrm>
        </p:spPr>
        <p:txBody>
          <a:bodyPr>
            <a:normAutofit/>
          </a:bodyPr>
          <a:lstStyle/>
          <a:p>
            <a:r>
              <a:rPr lang="ru-RU" sz="2800" dirty="0"/>
              <a:t>Сравнительная таблица результатов игры </a:t>
            </a:r>
            <a:br>
              <a:rPr lang="ru-RU" sz="2800" dirty="0"/>
            </a:br>
            <a:r>
              <a:rPr lang="ru-RU" sz="2800" dirty="0"/>
              <a:t>с реальным игроком. </a:t>
            </a:r>
          </a:p>
        </p:txBody>
      </p:sp>
      <p:graphicFrame>
        <p:nvGraphicFramePr>
          <p:cNvPr id="4" name="Объект 3">
            <a:extLst>
              <a:ext uri="{FF2B5EF4-FFF2-40B4-BE49-F238E27FC236}">
                <a16:creationId xmlns:a16="http://schemas.microsoft.com/office/drawing/2014/main" id="{E429F358-431F-4E2D-8047-16DE3FFF2D2B}"/>
              </a:ext>
            </a:extLst>
          </p:cNvPr>
          <p:cNvGraphicFramePr>
            <a:graphicFrameLocks noGrp="1"/>
          </p:cNvGraphicFramePr>
          <p:nvPr>
            <p:ph idx="1"/>
            <p:extLst>
              <p:ext uri="{D42A27DB-BD31-4B8C-83A1-F6EECF244321}">
                <p14:modId xmlns:p14="http://schemas.microsoft.com/office/powerpoint/2010/main" val="3858130888"/>
              </p:ext>
            </p:extLst>
          </p:nvPr>
        </p:nvGraphicFramePr>
        <p:xfrm>
          <a:off x="1744910" y="1905000"/>
          <a:ext cx="8607177" cy="3949510"/>
        </p:xfrm>
        <a:graphic>
          <a:graphicData uri="http://schemas.openxmlformats.org/drawingml/2006/table">
            <a:tbl>
              <a:tblPr firstRow="1" firstCol="1" bandRow="1">
                <a:tableStyleId>{5C22544A-7EE6-4342-B048-85BDC9FD1C3A}</a:tableStyleId>
              </a:tblPr>
              <a:tblGrid>
                <a:gridCol w="2399251">
                  <a:extLst>
                    <a:ext uri="{9D8B030D-6E8A-4147-A177-3AD203B41FA5}">
                      <a16:colId xmlns:a16="http://schemas.microsoft.com/office/drawing/2014/main" val="3914060279"/>
                    </a:ext>
                  </a:extLst>
                </a:gridCol>
                <a:gridCol w="1699287">
                  <a:extLst>
                    <a:ext uri="{9D8B030D-6E8A-4147-A177-3AD203B41FA5}">
                      <a16:colId xmlns:a16="http://schemas.microsoft.com/office/drawing/2014/main" val="1732037127"/>
                    </a:ext>
                  </a:extLst>
                </a:gridCol>
                <a:gridCol w="1509770">
                  <a:extLst>
                    <a:ext uri="{9D8B030D-6E8A-4147-A177-3AD203B41FA5}">
                      <a16:colId xmlns:a16="http://schemas.microsoft.com/office/drawing/2014/main" val="2431409927"/>
                    </a:ext>
                  </a:extLst>
                </a:gridCol>
                <a:gridCol w="1509770">
                  <a:extLst>
                    <a:ext uri="{9D8B030D-6E8A-4147-A177-3AD203B41FA5}">
                      <a16:colId xmlns:a16="http://schemas.microsoft.com/office/drawing/2014/main" val="1019800521"/>
                    </a:ext>
                  </a:extLst>
                </a:gridCol>
                <a:gridCol w="1489099">
                  <a:extLst>
                    <a:ext uri="{9D8B030D-6E8A-4147-A177-3AD203B41FA5}">
                      <a16:colId xmlns:a16="http://schemas.microsoft.com/office/drawing/2014/main" val="3995438398"/>
                    </a:ext>
                  </a:extLst>
                </a:gridCol>
              </a:tblGrid>
              <a:tr h="547360">
                <a:tc>
                  <a:txBody>
                    <a:bodyPr/>
                    <a:lstStyle/>
                    <a:p>
                      <a:pPr algn="ctr">
                        <a:lnSpc>
                          <a:spcPct val="115000"/>
                        </a:lnSpc>
                        <a:spcBef>
                          <a:spcPts val="200"/>
                        </a:spcBef>
                        <a:spcAft>
                          <a:spcPts val="200"/>
                        </a:spcAft>
                      </a:pPr>
                      <a:r>
                        <a:rPr lang="ru-RU" sz="1400">
                          <a:effectLst/>
                        </a:rPr>
                        <a:t>Метод</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Bef>
                          <a:spcPts val="200"/>
                        </a:spcBef>
                        <a:spcAft>
                          <a:spcPts val="200"/>
                        </a:spcAft>
                      </a:pPr>
                      <a:r>
                        <a:rPr lang="ru-RU" sz="1400">
                          <a:effectLst/>
                        </a:rPr>
                        <a:t>Человек</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Bef>
                          <a:spcPts val="200"/>
                        </a:spcBef>
                        <a:spcAft>
                          <a:spcPts val="200"/>
                        </a:spcAft>
                      </a:pPr>
                      <a:r>
                        <a:rPr lang="ru-RU" sz="1400">
                          <a:effectLst/>
                        </a:rPr>
                        <a:t>Счёт</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Bef>
                          <a:spcPts val="200"/>
                        </a:spcBef>
                        <a:spcAft>
                          <a:spcPts val="200"/>
                        </a:spcAft>
                      </a:pPr>
                      <a:r>
                        <a:rPr lang="ru-RU" sz="1400">
                          <a:effectLst/>
                        </a:rPr>
                        <a:t>Компьютер</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Bef>
                          <a:spcPts val="200"/>
                        </a:spcBef>
                        <a:spcAft>
                          <a:spcPts val="200"/>
                        </a:spcAft>
                      </a:pPr>
                      <a:r>
                        <a:rPr lang="ru-RU" sz="1400">
                          <a:effectLst/>
                        </a:rPr>
                        <a:t>Итог</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53366955"/>
                  </a:ext>
                </a:extLst>
              </a:tr>
              <a:tr h="226810">
                <a:tc rowSpan="5">
                  <a:txBody>
                    <a:bodyPr/>
                    <a:lstStyle/>
                    <a:p>
                      <a:pPr algn="just">
                        <a:lnSpc>
                          <a:spcPct val="115000"/>
                        </a:lnSpc>
                        <a:spcAft>
                          <a:spcPts val="0"/>
                        </a:spcAft>
                      </a:pPr>
                      <a:r>
                        <a:rPr lang="ru-RU" sz="1200" dirty="0">
                          <a:effectLst/>
                        </a:rPr>
                        <a:t>Эвристический метод</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rowSpan="5">
                  <a:txBody>
                    <a:bodyPr/>
                    <a:lstStyle/>
                    <a:p>
                      <a:pPr algn="ctr">
                        <a:lnSpc>
                          <a:spcPct val="115000"/>
                        </a:lnSpc>
                        <a:spcAft>
                          <a:spcPts val="0"/>
                        </a:spcAft>
                      </a:pPr>
                      <a:r>
                        <a:rPr lang="ru-RU" sz="1200" b="1" dirty="0">
                          <a:effectLst/>
                        </a:rPr>
                        <a:t>3:2</a:t>
                      </a:r>
                      <a:endParaRPr lang="ru-RU"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62484338"/>
                  </a:ext>
                </a:extLst>
              </a:tr>
              <a:tr h="226810">
                <a:tc vMerge="1">
                  <a:txBody>
                    <a:bodyPr/>
                    <a:lstStyle/>
                    <a:p>
                      <a:endParaRPr lang="ru-RU"/>
                    </a:p>
                  </a:txBody>
                  <a:tcPr/>
                </a:tc>
                <a:tc>
                  <a:txBody>
                    <a:bodyPr/>
                    <a:lstStyle/>
                    <a:p>
                      <a:pPr algn="ctr">
                        <a:lnSpc>
                          <a:spcPct val="115000"/>
                        </a:lnSpc>
                        <a:spcAft>
                          <a:spcPts val="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ru-RU"/>
                    </a:p>
                  </a:txBody>
                  <a:tcPr/>
                </a:tc>
                <a:extLst>
                  <a:ext uri="{0D108BD9-81ED-4DB2-BD59-A6C34878D82A}">
                    <a16:rowId xmlns:a16="http://schemas.microsoft.com/office/drawing/2014/main" val="3618842731"/>
                  </a:ext>
                </a:extLst>
              </a:tr>
              <a:tr h="226810">
                <a:tc vMerge="1">
                  <a:txBody>
                    <a:bodyPr/>
                    <a:lstStyle/>
                    <a:p>
                      <a:endParaRPr lang="ru-RU"/>
                    </a:p>
                  </a:txBody>
                  <a:tcPr/>
                </a:tc>
                <a:tc>
                  <a:txBody>
                    <a:bodyPr/>
                    <a:lstStyle/>
                    <a:p>
                      <a:pPr algn="ctr">
                        <a:lnSpc>
                          <a:spcPct val="115000"/>
                        </a:lnSpc>
                        <a:spcAft>
                          <a:spcPts val="0"/>
                        </a:spcAft>
                      </a:pPr>
                      <a:r>
                        <a:rPr lang="ru-RU" sz="1200">
                          <a:effectLst/>
                        </a:rPr>
                        <a:t>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ru-RU"/>
                    </a:p>
                  </a:txBody>
                  <a:tcPr/>
                </a:tc>
                <a:extLst>
                  <a:ext uri="{0D108BD9-81ED-4DB2-BD59-A6C34878D82A}">
                    <a16:rowId xmlns:a16="http://schemas.microsoft.com/office/drawing/2014/main" val="2529755753"/>
                  </a:ext>
                </a:extLst>
              </a:tr>
              <a:tr h="226810">
                <a:tc vMerge="1">
                  <a:txBody>
                    <a:bodyPr/>
                    <a:lstStyle/>
                    <a:p>
                      <a:endParaRPr lang="ru-RU"/>
                    </a:p>
                  </a:txBody>
                  <a:tcPr/>
                </a:tc>
                <a:tc>
                  <a:txBody>
                    <a:bodyPr/>
                    <a:lstStyle/>
                    <a:p>
                      <a:pPr algn="ctr">
                        <a:lnSpc>
                          <a:spcPct val="115000"/>
                        </a:lnSpc>
                        <a:spcAft>
                          <a:spcPts val="0"/>
                        </a:spcAft>
                      </a:pPr>
                      <a:r>
                        <a:rPr lang="ru-RU" sz="1200">
                          <a:effectLst/>
                        </a:rPr>
                        <a:t>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ru-RU"/>
                    </a:p>
                  </a:txBody>
                  <a:tcPr/>
                </a:tc>
                <a:extLst>
                  <a:ext uri="{0D108BD9-81ED-4DB2-BD59-A6C34878D82A}">
                    <a16:rowId xmlns:a16="http://schemas.microsoft.com/office/drawing/2014/main" val="2777016850"/>
                  </a:ext>
                </a:extLst>
              </a:tr>
              <a:tr h="226810">
                <a:tc vMerge="1">
                  <a:txBody>
                    <a:bodyPr/>
                    <a:lstStyle/>
                    <a:p>
                      <a:endParaRPr lang="ru-RU"/>
                    </a:p>
                  </a:txBody>
                  <a:tcPr/>
                </a:tc>
                <a:tc>
                  <a:txBody>
                    <a:bodyPr/>
                    <a:lstStyle/>
                    <a:p>
                      <a:pPr algn="ctr">
                        <a:lnSpc>
                          <a:spcPct val="115000"/>
                        </a:lnSpc>
                        <a:spcAft>
                          <a:spcPts val="120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ru-RU"/>
                    </a:p>
                  </a:txBody>
                  <a:tcPr/>
                </a:tc>
                <a:extLst>
                  <a:ext uri="{0D108BD9-81ED-4DB2-BD59-A6C34878D82A}">
                    <a16:rowId xmlns:a16="http://schemas.microsoft.com/office/drawing/2014/main" val="3490764317"/>
                  </a:ext>
                </a:extLst>
              </a:tr>
              <a:tr h="226810">
                <a:tc rowSpan="5">
                  <a:txBody>
                    <a:bodyPr/>
                    <a:lstStyle/>
                    <a:p>
                      <a:pPr algn="just">
                        <a:lnSpc>
                          <a:spcPct val="115000"/>
                        </a:lnSpc>
                        <a:spcAft>
                          <a:spcPts val="0"/>
                        </a:spcAft>
                      </a:pPr>
                      <a:r>
                        <a:rPr lang="ru-RU" sz="1200" dirty="0">
                          <a:effectLst/>
                        </a:rPr>
                        <a:t>Обучение с </a:t>
                      </a:r>
                      <a:r>
                        <a:rPr lang="ru-RU" sz="1200" dirty="0" err="1">
                          <a:effectLst/>
                        </a:rPr>
                        <a:t>предобучением</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rowSpan="5">
                  <a:txBody>
                    <a:bodyPr/>
                    <a:lstStyle/>
                    <a:p>
                      <a:pPr algn="ctr">
                        <a:lnSpc>
                          <a:spcPct val="115000"/>
                        </a:lnSpc>
                        <a:spcAft>
                          <a:spcPts val="0"/>
                        </a:spcAft>
                      </a:pPr>
                      <a:r>
                        <a:rPr lang="ru-RU" sz="1200" b="1" dirty="0">
                          <a:effectLst/>
                        </a:rPr>
                        <a:t>4:1</a:t>
                      </a:r>
                      <a:endParaRPr lang="ru-RU"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11236463"/>
                  </a:ext>
                </a:extLst>
              </a:tr>
              <a:tr h="226810">
                <a:tc vMerge="1">
                  <a:txBody>
                    <a:bodyPr/>
                    <a:lstStyle/>
                    <a:p>
                      <a:endParaRPr lang="ru-RU"/>
                    </a:p>
                  </a:txBody>
                  <a:tcPr/>
                </a:tc>
                <a:tc>
                  <a:txBody>
                    <a:bodyPr/>
                    <a:lstStyle/>
                    <a:p>
                      <a:pPr algn="ctr">
                        <a:lnSpc>
                          <a:spcPct val="115000"/>
                        </a:lnSpc>
                        <a:spcAft>
                          <a:spcPts val="0"/>
                        </a:spcAft>
                      </a:pPr>
                      <a:r>
                        <a:rPr lang="ru-RU" sz="1200">
                          <a:effectLst/>
                        </a:rPr>
                        <a:t>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ru-RU"/>
                    </a:p>
                  </a:txBody>
                  <a:tcPr/>
                </a:tc>
                <a:extLst>
                  <a:ext uri="{0D108BD9-81ED-4DB2-BD59-A6C34878D82A}">
                    <a16:rowId xmlns:a16="http://schemas.microsoft.com/office/drawing/2014/main" val="2359587018"/>
                  </a:ext>
                </a:extLst>
              </a:tr>
              <a:tr h="226810">
                <a:tc vMerge="1">
                  <a:txBody>
                    <a:bodyPr/>
                    <a:lstStyle/>
                    <a:p>
                      <a:endParaRPr lang="ru-RU"/>
                    </a:p>
                  </a:txBody>
                  <a:tcPr/>
                </a:tc>
                <a:tc>
                  <a:txBody>
                    <a:bodyPr/>
                    <a:lstStyle/>
                    <a:p>
                      <a:pPr algn="ctr">
                        <a:lnSpc>
                          <a:spcPct val="115000"/>
                        </a:lnSpc>
                        <a:spcAft>
                          <a:spcPts val="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ru-RU"/>
                    </a:p>
                  </a:txBody>
                  <a:tcPr/>
                </a:tc>
                <a:extLst>
                  <a:ext uri="{0D108BD9-81ED-4DB2-BD59-A6C34878D82A}">
                    <a16:rowId xmlns:a16="http://schemas.microsoft.com/office/drawing/2014/main" val="1722533100"/>
                  </a:ext>
                </a:extLst>
              </a:tr>
              <a:tr h="226810">
                <a:tc vMerge="1">
                  <a:txBody>
                    <a:bodyPr/>
                    <a:lstStyle/>
                    <a:p>
                      <a:endParaRPr lang="ru-RU"/>
                    </a:p>
                  </a:txBody>
                  <a:tcPr/>
                </a:tc>
                <a:tc>
                  <a:txBody>
                    <a:bodyPr/>
                    <a:lstStyle/>
                    <a:p>
                      <a:pPr algn="ctr">
                        <a:lnSpc>
                          <a:spcPct val="115000"/>
                        </a:lnSpc>
                        <a:spcAft>
                          <a:spcPts val="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ru-RU"/>
                    </a:p>
                  </a:txBody>
                  <a:tcPr/>
                </a:tc>
                <a:extLst>
                  <a:ext uri="{0D108BD9-81ED-4DB2-BD59-A6C34878D82A}">
                    <a16:rowId xmlns:a16="http://schemas.microsoft.com/office/drawing/2014/main" val="696527825"/>
                  </a:ext>
                </a:extLst>
              </a:tr>
              <a:tr h="226810">
                <a:tc vMerge="1">
                  <a:txBody>
                    <a:bodyPr/>
                    <a:lstStyle/>
                    <a:p>
                      <a:endParaRPr lang="ru-RU"/>
                    </a:p>
                  </a:txBody>
                  <a:tcPr/>
                </a:tc>
                <a:tc>
                  <a:txBody>
                    <a:bodyPr/>
                    <a:lstStyle/>
                    <a:p>
                      <a:pPr algn="ctr">
                        <a:lnSpc>
                          <a:spcPct val="115000"/>
                        </a:lnSpc>
                        <a:spcAft>
                          <a:spcPts val="120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ru-RU"/>
                    </a:p>
                  </a:txBody>
                  <a:tcPr/>
                </a:tc>
                <a:extLst>
                  <a:ext uri="{0D108BD9-81ED-4DB2-BD59-A6C34878D82A}">
                    <a16:rowId xmlns:a16="http://schemas.microsoft.com/office/drawing/2014/main" val="1210769895"/>
                  </a:ext>
                </a:extLst>
              </a:tr>
              <a:tr h="226810">
                <a:tc rowSpan="5">
                  <a:txBody>
                    <a:bodyPr/>
                    <a:lstStyle/>
                    <a:p>
                      <a:pPr algn="just">
                        <a:lnSpc>
                          <a:spcPct val="115000"/>
                        </a:lnSpc>
                        <a:spcAft>
                          <a:spcPts val="0"/>
                        </a:spcAft>
                      </a:pPr>
                      <a:r>
                        <a:rPr lang="ru-RU" sz="1200" dirty="0">
                          <a:effectLst/>
                        </a:rPr>
                        <a:t>Обучение с подкреплением</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rowSpan="5">
                  <a:txBody>
                    <a:bodyPr/>
                    <a:lstStyle/>
                    <a:p>
                      <a:pPr algn="ctr">
                        <a:lnSpc>
                          <a:spcPct val="115000"/>
                        </a:lnSpc>
                        <a:spcAft>
                          <a:spcPts val="0"/>
                        </a:spcAft>
                      </a:pPr>
                      <a:r>
                        <a:rPr lang="ru-RU" sz="1200" b="1" dirty="0">
                          <a:effectLst/>
                        </a:rPr>
                        <a:t>3:2</a:t>
                      </a:r>
                      <a:endParaRPr lang="ru-RU"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66512219"/>
                  </a:ext>
                </a:extLst>
              </a:tr>
              <a:tr h="226810">
                <a:tc vMerge="1">
                  <a:txBody>
                    <a:bodyPr/>
                    <a:lstStyle/>
                    <a:p>
                      <a:endParaRPr lang="ru-RU"/>
                    </a:p>
                  </a:txBody>
                  <a:tcPr/>
                </a:tc>
                <a:tc>
                  <a:txBody>
                    <a:bodyPr/>
                    <a:lstStyle/>
                    <a:p>
                      <a:pPr algn="ctr">
                        <a:lnSpc>
                          <a:spcPct val="115000"/>
                        </a:lnSpc>
                        <a:spcAft>
                          <a:spcPts val="0"/>
                        </a:spcAft>
                      </a:pPr>
                      <a:r>
                        <a:rPr lang="ru-RU" sz="1200">
                          <a:effectLst/>
                        </a:rPr>
                        <a:t>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ru-RU"/>
                    </a:p>
                  </a:txBody>
                  <a:tcPr/>
                </a:tc>
                <a:extLst>
                  <a:ext uri="{0D108BD9-81ED-4DB2-BD59-A6C34878D82A}">
                    <a16:rowId xmlns:a16="http://schemas.microsoft.com/office/drawing/2014/main" val="512465974"/>
                  </a:ext>
                </a:extLst>
              </a:tr>
              <a:tr h="226810">
                <a:tc vMerge="1">
                  <a:txBody>
                    <a:bodyPr/>
                    <a:lstStyle/>
                    <a:p>
                      <a:endParaRPr lang="ru-RU"/>
                    </a:p>
                  </a:txBody>
                  <a:tcPr/>
                </a:tc>
                <a:tc>
                  <a:txBody>
                    <a:bodyPr/>
                    <a:lstStyle/>
                    <a:p>
                      <a:pPr algn="ctr">
                        <a:lnSpc>
                          <a:spcPct val="115000"/>
                        </a:lnSpc>
                        <a:spcAft>
                          <a:spcPts val="0"/>
                        </a:spcAft>
                      </a:pPr>
                      <a:r>
                        <a:rPr lang="ru-RU" sz="1200">
                          <a:effectLst/>
                        </a:rPr>
                        <a:t>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ru-RU"/>
                    </a:p>
                  </a:txBody>
                  <a:tcPr/>
                </a:tc>
                <a:extLst>
                  <a:ext uri="{0D108BD9-81ED-4DB2-BD59-A6C34878D82A}">
                    <a16:rowId xmlns:a16="http://schemas.microsoft.com/office/drawing/2014/main" val="1742471066"/>
                  </a:ext>
                </a:extLst>
              </a:tr>
              <a:tr h="226810">
                <a:tc vMerge="1">
                  <a:txBody>
                    <a:bodyPr/>
                    <a:lstStyle/>
                    <a:p>
                      <a:endParaRPr lang="ru-RU"/>
                    </a:p>
                  </a:txBody>
                  <a:tcPr/>
                </a:tc>
                <a:tc>
                  <a:txBody>
                    <a:bodyPr/>
                    <a:lstStyle/>
                    <a:p>
                      <a:pPr algn="ctr">
                        <a:lnSpc>
                          <a:spcPct val="115000"/>
                        </a:lnSpc>
                        <a:spcAft>
                          <a:spcPts val="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ru-RU"/>
                    </a:p>
                  </a:txBody>
                  <a:tcPr/>
                </a:tc>
                <a:extLst>
                  <a:ext uri="{0D108BD9-81ED-4DB2-BD59-A6C34878D82A}">
                    <a16:rowId xmlns:a16="http://schemas.microsoft.com/office/drawing/2014/main" val="2233566072"/>
                  </a:ext>
                </a:extLst>
              </a:tr>
              <a:tr h="226810">
                <a:tc vMerge="1">
                  <a:txBody>
                    <a:bodyPr/>
                    <a:lstStyle/>
                    <a:p>
                      <a:endParaRPr lang="ru-RU"/>
                    </a:p>
                  </a:txBody>
                  <a:tcPr/>
                </a:tc>
                <a:tc>
                  <a:txBody>
                    <a:bodyPr/>
                    <a:lstStyle/>
                    <a:p>
                      <a:pPr algn="ctr">
                        <a:lnSpc>
                          <a:spcPct val="115000"/>
                        </a:lnSpc>
                        <a:spcAft>
                          <a:spcPts val="0"/>
                        </a:spcAft>
                      </a:pPr>
                      <a:r>
                        <a:rPr lang="ru-RU" sz="1200">
                          <a:effectLst/>
                        </a:rPr>
                        <a:t>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a:effectLst/>
                        </a:rPr>
                        <a:t>:</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ru-RU" sz="1200" dirty="0">
                          <a:effectLst/>
                        </a:rPr>
                        <a:t>0</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ru-RU"/>
                    </a:p>
                  </a:txBody>
                  <a:tcPr/>
                </a:tc>
                <a:extLst>
                  <a:ext uri="{0D108BD9-81ED-4DB2-BD59-A6C34878D82A}">
                    <a16:rowId xmlns:a16="http://schemas.microsoft.com/office/drawing/2014/main" val="2136443268"/>
                  </a:ext>
                </a:extLst>
              </a:tr>
            </a:tbl>
          </a:graphicData>
        </a:graphic>
      </p:graphicFrame>
    </p:spTree>
    <p:extLst>
      <p:ext uri="{BB962C8B-B14F-4D97-AF65-F5344CB8AC3E}">
        <p14:creationId xmlns:p14="http://schemas.microsoft.com/office/powerpoint/2010/main" val="2548790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2F5EDE3-43D5-469D-B844-A19FE342C94C}"/>
              </a:ext>
            </a:extLst>
          </p:cNvPr>
          <p:cNvSpPr>
            <a:spLocks noGrp="1"/>
          </p:cNvSpPr>
          <p:nvPr>
            <p:ph type="title"/>
          </p:nvPr>
        </p:nvSpPr>
        <p:spPr>
          <a:xfrm>
            <a:off x="1812022" y="696287"/>
            <a:ext cx="1870745" cy="620786"/>
          </a:xfrm>
        </p:spPr>
        <p:txBody>
          <a:bodyPr>
            <a:normAutofit/>
          </a:bodyPr>
          <a:lstStyle/>
          <a:p>
            <a:r>
              <a:rPr lang="ru-RU" sz="3200" dirty="0"/>
              <a:t>Выводы</a:t>
            </a:r>
          </a:p>
        </p:txBody>
      </p:sp>
      <p:sp>
        <p:nvSpPr>
          <p:cNvPr id="3" name="Объект 2">
            <a:extLst>
              <a:ext uri="{FF2B5EF4-FFF2-40B4-BE49-F238E27FC236}">
                <a16:creationId xmlns:a16="http://schemas.microsoft.com/office/drawing/2014/main" id="{FEA03BFF-D666-40FC-8D43-DEF09F306B5A}"/>
              </a:ext>
            </a:extLst>
          </p:cNvPr>
          <p:cNvSpPr>
            <a:spLocks noGrp="1"/>
          </p:cNvSpPr>
          <p:nvPr>
            <p:ph idx="1"/>
          </p:nvPr>
        </p:nvSpPr>
        <p:spPr>
          <a:xfrm>
            <a:off x="1031846" y="1451295"/>
            <a:ext cx="10737907" cy="5134063"/>
          </a:xfrm>
        </p:spPr>
        <p:txBody>
          <a:bodyPr>
            <a:normAutofit/>
          </a:bodyPr>
          <a:lstStyle/>
          <a:p>
            <a:r>
              <a:rPr lang="ru-RU" b="1" dirty="0"/>
              <a:t>Обучение с подкреплением</a:t>
            </a:r>
            <a:r>
              <a:rPr lang="ru-RU" dirty="0"/>
              <a:t> оказалось наиболее эффективным методом. В матче с другими методами данный подход показал похожий с </a:t>
            </a:r>
            <a:r>
              <a:rPr lang="ru-RU" dirty="0" err="1"/>
              <a:t>предобученной</a:t>
            </a:r>
            <a:r>
              <a:rPr lang="ru-RU" dirty="0"/>
              <a:t> моделью результат. Однако, играя с человеком, </a:t>
            </a:r>
            <a:r>
              <a:rPr lang="en-US" dirty="0"/>
              <a:t>RL</a:t>
            </a:r>
            <a:r>
              <a:rPr lang="ru-RU" dirty="0"/>
              <a:t>-агент демонстрировал более осторожную и устойчивую стратегию, чем обученная на </a:t>
            </a:r>
            <a:r>
              <a:rPr lang="ru-RU" dirty="0" err="1"/>
              <a:t>датасете</a:t>
            </a:r>
            <a:r>
              <a:rPr lang="ru-RU" dirty="0"/>
              <a:t> модель, и допускал меньше грубых ошибок, чем эвристика. Но несмотря на свою </a:t>
            </a:r>
            <a:r>
              <a:rPr lang="ru-RU" dirty="0" err="1"/>
              <a:t>адаптируемость</a:t>
            </a:r>
            <a:r>
              <a:rPr lang="ru-RU" dirty="0"/>
              <a:t>, метод всё ещё слабее среднестатистического игрока в шашки и требует длительных временных затрат на обучение для повышения уровня </a:t>
            </a:r>
          </a:p>
          <a:p>
            <a:r>
              <a:rPr lang="ru-RU" b="1" dirty="0"/>
              <a:t>Метод с </a:t>
            </a:r>
            <a:r>
              <a:rPr lang="ru-RU" b="1" dirty="0" err="1"/>
              <a:t>предобучением</a:t>
            </a:r>
            <a:r>
              <a:rPr lang="ru-RU" dirty="0"/>
              <a:t> модели показал высокие результаты в игре против других методов, однако оказался слабым при игре с человеком, что показывает ограничение обучения на заранее подготовленном </a:t>
            </a:r>
            <a:r>
              <a:rPr lang="ru-RU" dirty="0" err="1"/>
              <a:t>датасете</a:t>
            </a:r>
            <a:r>
              <a:rPr lang="ru-RU" dirty="0"/>
              <a:t> – оно плохо адаптируется к стилю игры реального соперника </a:t>
            </a:r>
          </a:p>
          <a:p>
            <a:r>
              <a:rPr lang="ru-RU" b="1" dirty="0"/>
              <a:t>Эвристический метод</a:t>
            </a:r>
            <a:r>
              <a:rPr lang="ru-RU" dirty="0"/>
              <a:t> проиграл в матче обеим обученным моделям, так как в отличие от них не использует целенаправленную стратегию и часто действует случайно. Но при этом, результативность данного подхода в реальных условиях против человека выше, чем у </a:t>
            </a:r>
            <a:r>
              <a:rPr lang="ru-RU" dirty="0" err="1"/>
              <a:t>предобученной</a:t>
            </a:r>
            <a:r>
              <a:rPr lang="ru-RU" dirty="0"/>
              <a:t> модели </a:t>
            </a:r>
          </a:p>
          <a:p>
            <a:endParaRPr lang="ru-RU" dirty="0"/>
          </a:p>
        </p:txBody>
      </p:sp>
    </p:spTree>
    <p:extLst>
      <p:ext uri="{BB962C8B-B14F-4D97-AF65-F5344CB8AC3E}">
        <p14:creationId xmlns:p14="http://schemas.microsoft.com/office/powerpoint/2010/main" val="3185250171"/>
      </p:ext>
    </p:extLst>
  </p:cSld>
  <p:clrMapOvr>
    <a:masterClrMapping/>
  </p:clrMapOvr>
</p:sld>
</file>

<file path=ppt/theme/theme1.xml><?xml version="1.0" encoding="utf-8"?>
<a:theme xmlns:a="http://schemas.openxmlformats.org/drawingml/2006/main" name="Легкий дым">
  <a:themeElements>
    <a:clrScheme name="Легкий дым">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Легкий дым">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Легкий дым">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237</TotalTime>
  <Words>609</Words>
  <Application>Microsoft Office PowerPoint</Application>
  <PresentationFormat>Широкоэкранный</PresentationFormat>
  <Paragraphs>101</Paragraphs>
  <Slides>10</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10</vt:i4>
      </vt:variant>
    </vt:vector>
  </HeadingPairs>
  <TitlesOfParts>
    <vt:vector size="16" baseType="lpstr">
      <vt:lpstr>Arial</vt:lpstr>
      <vt:lpstr>Calibri</vt:lpstr>
      <vt:lpstr>Century Gothic</vt:lpstr>
      <vt:lpstr>Times New Roman</vt:lpstr>
      <vt:lpstr>Wingdings 3</vt:lpstr>
      <vt:lpstr>Легкий дым</vt:lpstr>
      <vt:lpstr>Исследование метода обучения с подкреплением</vt:lpstr>
      <vt:lpstr>Проблема:</vt:lpstr>
      <vt:lpstr>Презентация PowerPoint</vt:lpstr>
      <vt:lpstr>Методы для сравнения: </vt:lpstr>
      <vt:lpstr>Эвристический метод</vt:lpstr>
      <vt:lpstr>Обучение с предобучением</vt:lpstr>
      <vt:lpstr>Обучение с подкреплением</vt:lpstr>
      <vt:lpstr>Сравнительная таблица результатов игр, сыгранных между собой.  </vt:lpstr>
      <vt:lpstr>Сравнительная таблица результатов игры  с реальным игроком. </vt:lpstr>
      <vt:lpstr>Выводы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Исследование метода обучения с подкреплением</dc:title>
  <dc:creator>Кв Мисс Дшх Ммм</dc:creator>
  <cp:lastModifiedBy>Кв Мисс Дшх Ммм</cp:lastModifiedBy>
  <cp:revision>13</cp:revision>
  <dcterms:created xsi:type="dcterms:W3CDTF">2026-05-16T20:03:01Z</dcterms:created>
  <dcterms:modified xsi:type="dcterms:W3CDTF">2026-05-17T08:29:50Z</dcterms:modified>
</cp:coreProperties>
</file>